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24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CalmGuide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Crisis Guidance for Dementia Caregivers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487168"/>
            <a:ext cx="832104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is 3am. Your father does not recognize you.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frightened and getting aggressive.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 idea what to do."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CS595  |  IIT Spring 2026  |  Team - Interoperability Nexus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0" y="-731520"/>
            <a:ext cx="2011680" cy="201168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>
                <a:solidFill>
                  <a:srgbClr val="636E72"/>
                </a:solidFill>
                <a:latin typeface="Calibri"/>
              </a:rPr>
              <a:t>Sharan Karthikeyan  |  Santhosh Kumar Kathiresan  |  Sriram Ravichandran  |  Priya Roy  |  </a:t>
            </a:r>
            <a:r>
              <a:rPr sz="1000" dirty="0" err="1">
                <a:solidFill>
                  <a:srgbClr val="636E72"/>
                </a:solidFill>
                <a:latin typeface="Calibri"/>
              </a:rPr>
              <a:t>Sudhamsh</a:t>
            </a:r>
            <a:r>
              <a:rPr sz="1000" dirty="0">
                <a:solidFill>
                  <a:srgbClr val="636E72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36E72"/>
                </a:solidFill>
                <a:latin typeface="Calibri"/>
              </a:rPr>
              <a:t>Undavalli</a:t>
            </a:r>
            <a:r>
              <a:rPr lang="en-US" sz="1000" dirty="0">
                <a:solidFill>
                  <a:srgbClr val="636E72"/>
                </a:solidFill>
              </a:rPr>
              <a:t> | Varun </a:t>
            </a:r>
            <a:r>
              <a:rPr lang="en-US" sz="1000" dirty="0" err="1">
                <a:solidFill>
                  <a:srgbClr val="636E72"/>
                </a:solidFill>
              </a:rPr>
              <a:t>Pastaria</a:t>
            </a:r>
            <a:endParaRPr sz="1000" dirty="0">
              <a:solidFill>
                <a:srgbClr val="636E7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CalmGuide  |  CS595 Health Informatics  |  IIT Spring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651760" cy="1371600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097280"/>
            <a:ext cx="265176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2070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" y="1892808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US Dementia Caregivers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21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 billion hours/year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651760" cy="1371600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65176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2070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12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337560" y="1892808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Any Caregiver Training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2221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11% trained in ADLs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1097280"/>
            <a:ext cx="2651760" cy="1371600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65176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2070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$413B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72200" y="1892808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Caregiver Value (2024)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2221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$1T by 2050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263347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in a crisis?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29443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episodes strike without warning. General AI chatbots have no patient memory, no disease-stage knowledge, no safety guardrails. Result: panic, poor decisions, and ~$8,000 ER visits. Higher caregiver burden directly predicts 30-day hospital readmissions (JAMA Network Open, 2025).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730752"/>
            <a:ext cx="8321040" cy="530352"/>
          </a:xfrm>
          <a:prstGeom prst="rect">
            <a:avLst/>
          </a:prstGeom>
          <a:solidFill>
            <a:srgbClr val="1A2533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730752"/>
            <a:ext cx="54864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3730752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Caregiver AI Prize Challenge (November 2025) confirms: no adequate AI-powered caregiver crisis tool exists in the US consumer market.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CalmGuide Works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CalmGuide  |  CS595 Health Informatics  |  IIT Spring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4069080" cy="1508760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76072" y="1280160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76072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Profile Setup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1737360"/>
            <a:ext cx="3776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onboarding: patient name, dementia stage, known triggers, calming strategies, safety notes. Profile injected into every LLM call for full personalization.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115568"/>
            <a:ext cx="4069080" cy="1508760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82312" y="1280160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82312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76088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Crisis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1737360"/>
            <a:ext cx="3776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button: 'Something is happening right now.' Natural language input returns a 4-part response: 60-sec actions / why it's happening / what NOT to do / when to escalate.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743200"/>
            <a:ext cx="4069080" cy="1508760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6072" y="290779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6072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Mode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" y="3364992"/>
            <a:ext cx="3776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interactive scenario modules between crises. Grounded in validation therapy and person-centered care. 10-15 real behavioral scenarios.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743200"/>
            <a:ext cx="4069080" cy="1508760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82312" y="290779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82312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76088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Check-In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82312" y="3364992"/>
            <a:ext cx="3776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wellbeing prompt. LLM detects burnout language and surfaces professional resources when appropriate — without being alarmist.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370832"/>
            <a:ext cx="8321040" cy="347472"/>
          </a:xfrm>
          <a:prstGeom prst="rect">
            <a:avLst/>
          </a:prstGeom>
          <a:solidFill>
            <a:srgbClr val="253345"/>
          </a:solidFill>
          <a:ln w="1270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636E72"/>
                </a:solidFill>
              </a:rPr>
              <a:t>Stack: Next.js (TypeScript) + React Native (Expo) + FastAPI (Python) + OpenAI/Anthropic API + PostgreSQL + pgvector (RAG) + AES-256-GCM Encryption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Value We Deliver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CalmGuide  |  CS595 Health Informatics  |  IIT Spring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576072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66928" y="1280160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66928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Crisis Confidence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8992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4-part responses reduce panic and prevent the most dangerous caregiver mistakes.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901952"/>
            <a:ext cx="576072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66928" y="2066544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66928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1993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78992" y="22494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uses the patient's name, stage, and known triggers. No other consumer tool does this.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688336"/>
            <a:ext cx="576072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66928" y="2852928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6692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2779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Competence Building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8992" y="3035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Mode builds skills between crises so caregivers are better prepared for the next episode.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474720"/>
            <a:ext cx="576072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66928" y="363931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6692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8992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ER Visits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3822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caregivers make better decisions, reducing unnecessary $8,000 emergency room visits.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1115568"/>
            <a:ext cx="2331720" cy="309067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0800" y="1115568"/>
            <a:ext cx="233172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400800" y="12618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LOF Pillar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1508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675120" y="2450592"/>
            <a:ext cx="1783080" cy="22860"/>
          </a:xfrm>
          <a:prstGeom prst="rect">
            <a:avLst/>
          </a:prstGeom>
          <a:solidFill>
            <a:srgbClr val="253345"/>
          </a:solidFill>
          <a:ln w="1270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73952" y="252374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caregivers are the primary day-to-day care delivery agents. Supporting their effectiveness directly improves patient outcomes.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65392" y="3438143"/>
            <a:ext cx="2011680" cy="67520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560820" y="3436689"/>
            <a:ext cx="2011680" cy="67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Languages  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+ Web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Encrypted at Rest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Exists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CalmGuide  |  CS595 Health Informatics  |  IIT Spring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026093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318701"/>
            <a:ext cx="233172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834640" y="1026093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 AI?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1318701"/>
            <a:ext cx="137160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297680" y="1026093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318701"/>
            <a:ext cx="137160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760720" y="1026093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 vs. CalmGuide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0" y="1318701"/>
            <a:ext cx="297180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11480" y="1410141"/>
            <a:ext cx="233172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02920" y="1410141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CareAssist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(U. of Kansas / NIA)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34640" y="1410141"/>
            <a:ext cx="137160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926080" y="1410141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1410141"/>
            <a:ext cx="137160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89120" y="1410141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60720" y="1410141"/>
            <a:ext cx="297180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852160" y="1410141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tips only. No AI, no conversation, no personalization. Latest update: a back button.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2187381"/>
            <a:ext cx="2331720" cy="713232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02920" y="2187381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Amicus Brain NeuViCare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34640" y="2187381"/>
            <a:ext cx="1371600" cy="713232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926080" y="2187381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LLM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97680" y="2187381"/>
            <a:ext cx="1371600" cy="713232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389120" y="2187381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B2B only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2187381"/>
            <a:ext cx="2971800" cy="713232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852160" y="2187381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via employers and insurers. Not accessible to average families. No crisis UX, no patient profile.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2964621"/>
            <a:ext cx="233172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02920" y="2964621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ADQueryAid (NDSU)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34640" y="2964621"/>
            <a:ext cx="137160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926080" y="2964621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LLM+KG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97680" y="2964621"/>
            <a:ext cx="137160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389120" y="2964621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Research only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0" y="2964621"/>
            <a:ext cx="2971800" cy="713232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852160" y="2964621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prototype (npj Biomedical Innovations, 2024). Not deployed as a consumer app.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3741861"/>
            <a:ext cx="2331720" cy="713232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02920" y="3741861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834640" y="3741861"/>
            <a:ext cx="1371600" cy="713232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926080" y="3741861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97680" y="3741861"/>
            <a:ext cx="1371600" cy="713232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389120" y="3741861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60720" y="3741861"/>
            <a:ext cx="2971800" cy="713232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852160" y="3741861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memory, no dementia-specific guardrails. Peer review (</a:t>
            </a:r>
            <a:r>
              <a:rPr lang="en-US" sz="950" b="1" dirty="0">
                <a:solidFill>
                  <a:srgbClr val="E8EDF2"/>
                </a:solidFill>
                <a:highlight>
                  <a:srgbClr val="008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arXiv:2506.15047</a:t>
            </a: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confirmed the gap.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11480" y="4579935"/>
            <a:ext cx="832104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02920" y="4579935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CalmGuide is the only consumer tool combining personalized profiles, crisis-mode UX, dementia-specific LLM guardrails, AES-256-GCM encryption, behavioral pattern tracking, caregiver feedback loops, and 11-language support — across web and mobile.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68096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Matrix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CalmGuide  |  CS595 Health Informatics  |  IIT Spring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353312"/>
            <a:ext cx="2350008" cy="20117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852928" y="1078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52928" y="1353312"/>
            <a:ext cx="1353312" cy="20117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297680" y="1078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353312"/>
            <a:ext cx="1353312" cy="20117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742432" y="107899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42432" y="1353312"/>
            <a:ext cx="2990088" cy="20117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11480" y="1426464"/>
            <a:ext cx="235000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02920" y="142646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42432" y="1426464"/>
            <a:ext cx="299008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833872" y="142646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41 Alzheimer's Assoc. pages + pgvector hybrid search. 6 absolute rules in system prompt. Post-stream response guard validates every output.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17520" y="1527048"/>
            <a:ext cx="1024128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017520" y="15270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62272" y="1527048"/>
            <a:ext cx="1024128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462272" y="15270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1965960"/>
            <a:ext cx="2350008" cy="475488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02920" y="196596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/ Privacy Exposure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42432" y="1965960"/>
            <a:ext cx="2990088" cy="475488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833872" y="196596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PHI collected. AES-256-GCM encrypts all conversations &amp; profile data at rest. Patient name in browser localStorage only.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17520" y="2066544"/>
            <a:ext cx="1024128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017520" y="206654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62272" y="2066544"/>
            <a:ext cx="1024128" cy="2743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462272" y="206654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505456"/>
            <a:ext cx="235000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02920" y="250545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in True Emergency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42432" y="2505456"/>
            <a:ext cx="299008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833872" y="2505456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crisis response includes a 'When to call 911' threshold. Disclaimer on first use.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17520" y="2606040"/>
            <a:ext cx="1024128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017520" y="26060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62272" y="2606040"/>
            <a:ext cx="1024128" cy="2743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462272" y="26060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3044952"/>
            <a:ext cx="2350008" cy="475488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02920" y="304495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Cost / Availability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42432" y="3044952"/>
            <a:ext cx="2990088" cy="475488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833872" y="304495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scenario caching. Fallback static guidance if connectivity fails.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017520" y="3145536"/>
            <a:ext cx="1024128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3017520" y="3145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62272" y="3145536"/>
            <a:ext cx="1024128" cy="2743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462272" y="3145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3584448"/>
            <a:ext cx="235000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02920" y="358444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42432" y="3584448"/>
            <a:ext cx="299008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5833872" y="3584448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roadmap: Crisis MVP first, then encryption, then patterns, then feedback. Each phase has its own spec, plan, and review before implementation begins.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17520" y="3685032"/>
            <a:ext cx="1024128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3017520" y="36850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123944"/>
            <a:ext cx="2350008" cy="475488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502920" y="412394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/ Trust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742432" y="4123944"/>
            <a:ext cx="2990088" cy="475488"/>
          </a:xfrm>
          <a:prstGeom prst="rect">
            <a:avLst/>
          </a:prstGeom>
          <a:solidFill>
            <a:srgbClr val="16202C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5833872" y="412394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11-language i18n. Mobile app (iOS/Android). Public impact page with real usage stats. Warm, non-clinical tone throughout.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017520" y="4224528"/>
            <a:ext cx="1024128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3017520" y="42245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462272" y="4224528"/>
            <a:ext cx="1024128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4462272" y="42245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4" name="Shape 50">
            <a:extLst>
              <a:ext uri="{FF2B5EF4-FFF2-40B4-BE49-F238E27FC236}">
                <a16:creationId xmlns:a16="http://schemas.microsoft.com/office/drawing/2014/main" id="{E141B2EC-E5F6-D69F-D895-2E7C862E4CEC}"/>
              </a:ext>
            </a:extLst>
          </p:cNvPr>
          <p:cNvSpPr/>
          <p:nvPr/>
        </p:nvSpPr>
        <p:spPr>
          <a:xfrm>
            <a:off x="4462272" y="3689604"/>
            <a:ext cx="1024128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51">
            <a:extLst>
              <a:ext uri="{FF2B5EF4-FFF2-40B4-BE49-F238E27FC236}">
                <a16:creationId xmlns:a16="http://schemas.microsoft.com/office/drawing/2014/main" id="{7308948E-417D-5FF1-12FD-41BAD9FD3095}"/>
              </a:ext>
            </a:extLst>
          </p:cNvPr>
          <p:cNvSpPr/>
          <p:nvPr/>
        </p:nvSpPr>
        <p:spPr>
          <a:xfrm>
            <a:off x="4462272" y="368960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 Is Real.</a:t>
            </a:r>
            <a:endParaRPr lang="en-US" sz="4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 Is Needed.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" y="2084832"/>
            <a:ext cx="832104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11480" y="2212848"/>
            <a:ext cx="1261872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11480" y="221284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64792" y="2212848"/>
            <a:ext cx="696772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874520" y="2212848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 untrained caregivers face behavioral crises alone, overnight, with no adequate tool.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1261872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64792" y="2834640"/>
            <a:ext cx="696772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874520" y="283464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LLM crisis guidance via patient profiles, structured 4-part responses, RAG-grounded dementia guidelines, behavioral pattern tracking, and caregiver feedback loops.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456432"/>
            <a:ext cx="1261872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11480" y="345643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64792" y="3456432"/>
            <a:ext cx="696772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874520" y="345643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caregiver panic, fewer preventable ER visits, self-learning behavioral insights, 11-language support, AES-256 encryption, and consumer access on web + mobile.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4078224"/>
            <a:ext cx="1261872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11480" y="4078224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64792" y="4078224"/>
            <a:ext cx="6967728" cy="475488"/>
          </a:xfrm>
          <a:prstGeom prst="rect">
            <a:avLst/>
          </a:prstGeom>
          <a:solidFill>
            <a:srgbClr val="1A2533"/>
          </a:solidFill>
          <a:ln w="6350">
            <a:solidFill>
              <a:srgbClr val="2533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874520" y="407822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combines personalization + crisis UX + dementia guardrails + encrypted data + behavioral learning + multilingual support for consumer use.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CalmGuide  |  CS595 Health Informatics  |  IIT Spring 2026  |  Team - Interoperability Nexus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952</Words>
  <Application>Microsoft Macintosh PowerPoint</Application>
  <PresentationFormat>On-screen Show (16:9)</PresentationFormat>
  <Paragraphs>134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CalmGuide NABC</dc:title>
  <dc:subject>PptxGenJS Presentation</dc:subject>
  <dc:creator>PptxGenJS</dc:creator>
  <cp:lastModifiedBy>Sharan Karthikeyan</cp:lastModifiedBy>
  <cp:revision>14</cp:revision>
  <dcterms:created xsi:type="dcterms:W3CDTF">2026-04-02T13:10:50Z</dcterms:created>
  <dcterms:modified xsi:type="dcterms:W3CDTF">2026-04-02T14:03:07Z</dcterms:modified>
</cp:coreProperties>
</file>